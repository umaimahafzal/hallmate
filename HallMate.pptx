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63B127-A13E-43DE-9B53-7DC952C21A32}" v="1" dt="2026-09-17T16:35:22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imah Afzal" userId="d1a8c3cce5d1c303" providerId="LiveId" clId="{ED159900-28ED-499A-8729-0973952BB43F}"/>
    <pc:docChg chg="modSld">
      <pc:chgData name="Umaimah Afzal" userId="d1a8c3cce5d1c303" providerId="LiveId" clId="{ED159900-28ED-499A-8729-0973952BB43F}" dt="2026-09-18T05:20:35.937" v="7" actId="20577"/>
      <pc:docMkLst>
        <pc:docMk/>
      </pc:docMkLst>
      <pc:sldChg chg="modSp mod">
        <pc:chgData name="Umaimah Afzal" userId="d1a8c3cce5d1c303" providerId="LiveId" clId="{ED159900-28ED-499A-8729-0973952BB43F}" dt="2026-09-18T05:20:35.937" v="7" actId="20577"/>
        <pc:sldMkLst>
          <pc:docMk/>
          <pc:sldMk cId="0" sldId="256"/>
        </pc:sldMkLst>
        <pc:spChg chg="mod">
          <ac:chgData name="Umaimah Afzal" userId="d1a8c3cce5d1c303" providerId="LiveId" clId="{ED159900-28ED-499A-8729-0973952BB43F}" dt="2026-09-18T05:20:35.937" v="7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Transition">
        <pc:chgData name="Umaimah Afzal" userId="d1a8c3cce5d1c303" providerId="LiveId" clId="{ED159900-28ED-499A-8729-0973952BB43F}" dt="2026-09-17T16:35:22.968" v="0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99DEF8-319B-484A-A9FB-433CA35768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7A79A1-D68F-42CE-9EAB-E984AC866A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2C0AFD-8556-400E-945F-5DFEA55B1D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264C2D-6C73-4061-9E26-65298FBA3A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1E7D1E-50FA-4AD8-8D28-566F9093D3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7ADE37-BFB3-464D-8A9B-D7197191F7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7810F4-A0D5-4443-BC53-7426D24586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0FEAC9-E08F-407A-8842-5310D3060D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BF28FF-30B5-4BBD-B23B-688692D9D4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44E9A-D1A6-457A-A80F-4ACFE84FE8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CA1CDC-8B3C-43E2-AE91-CE16CDEA63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239">
              <a:alpha val="28000"/>
            </a:srgbClr>
          </a:solidFill>
          <a:ln w="12700">
            <a:solidFill>
              <a:srgbClr val="0B223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7150320" cy="685764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0000" tIns="45000" rIns="90000" bIns="4500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0080" y="50292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502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152000" y="4939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20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152000" y="7315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58440" y="13348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 HACKATHON  ·  PRODUCT PITCH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58440" y="1874520"/>
            <a:ext cx="6491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 spc="15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HALLMATE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85800" y="272484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Smart Venue Booking System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94800" y="333756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Discover.  Check.  Book.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94800" y="3959280"/>
            <a:ext cx="1051560" cy="360"/>
          </a:xfrm>
          <a:prstGeom prst="line">
            <a:avLst/>
          </a:prstGeom>
          <a:ln w="381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94800" y="512064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spc="111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TEAM BUG SLAYERS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94800" y="544968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spc="111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COLLEGE  ·  KITSW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94800" y="577908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spc="111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HACKATHON  ·  </a:t>
            </a:r>
            <a:r>
              <a:rPr lang="en-US" b="1" spc="111" dirty="0">
                <a:solidFill>
                  <a:srgbClr val="FFFFFF"/>
                </a:solidFill>
                <a:latin typeface="Aptos"/>
                <a:ea typeface="Aptos"/>
              </a:rPr>
              <a:t>NN HACKATHON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100960" y="63277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02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The Problem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Venue booking is still fragmented, slow and difficult to track.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39640" y="1819800"/>
            <a:ext cx="4699800" cy="3300480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Manual venue booking compared with a digital booking experience"/>
          <p:cNvPicPr/>
          <p:nvPr/>
        </p:nvPicPr>
        <p:blipFill>
          <a:blip r:embed="rId3"/>
          <a:stretch/>
        </p:blipFill>
        <p:spPr>
          <a:xfrm>
            <a:off x="567000" y="1847160"/>
            <a:ext cx="4644720" cy="32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Shape 8"/>
          <p:cNvSpPr/>
          <p:nvPr/>
        </p:nvSpPr>
        <p:spPr>
          <a:xfrm>
            <a:off x="804600" y="2057400"/>
            <a:ext cx="1599840" cy="310680"/>
          </a:xfrm>
          <a:prstGeom prst="roundRect">
            <a:avLst>
              <a:gd name="adj" fmla="val 44118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804600" y="205740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MANUAL &amp; SCATTERED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5623560" y="1984320"/>
            <a:ext cx="169128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5742360" y="2167200"/>
            <a:ext cx="383760" cy="383760"/>
          </a:xfrm>
          <a:prstGeom prst="ellipse">
            <a:avLst/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5742360" y="2167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6226920" y="2121480"/>
            <a:ext cx="959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Phone calls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7562160" y="1984320"/>
            <a:ext cx="169128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7680960" y="2167200"/>
            <a:ext cx="383760" cy="383760"/>
          </a:xfrm>
          <a:prstGeom prst="ellipse">
            <a:avLst/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7680960" y="2167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8165520" y="2121480"/>
            <a:ext cx="959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Paper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9500760" y="1984320"/>
            <a:ext cx="169128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9619560" y="2167200"/>
            <a:ext cx="383760" cy="383760"/>
          </a:xfrm>
          <a:prstGeom prst="ellipse">
            <a:avLst/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9619560" y="2167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10104120" y="2121480"/>
            <a:ext cx="959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Scattered messages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2"/>
          <p:cNvSpPr/>
          <p:nvPr/>
        </p:nvSpPr>
        <p:spPr>
          <a:xfrm>
            <a:off x="5623560" y="3008520"/>
            <a:ext cx="169128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5742360" y="3191400"/>
            <a:ext cx="383760" cy="383760"/>
          </a:xfrm>
          <a:prstGeom prst="ellipse">
            <a:avLst/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574236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6226920" y="3145680"/>
            <a:ext cx="959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Repeated enquiries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6"/>
          <p:cNvSpPr/>
          <p:nvPr/>
        </p:nvSpPr>
        <p:spPr>
          <a:xfrm>
            <a:off x="7562160" y="3008520"/>
            <a:ext cx="169128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7"/>
          <p:cNvSpPr/>
          <p:nvPr/>
        </p:nvSpPr>
        <p:spPr>
          <a:xfrm>
            <a:off x="7680960" y="3191400"/>
            <a:ext cx="383760" cy="383760"/>
          </a:xfrm>
          <a:prstGeom prst="ellipse">
            <a:avLst/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8"/>
          <p:cNvSpPr/>
          <p:nvPr/>
        </p:nvSpPr>
        <p:spPr>
          <a:xfrm>
            <a:off x="768096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9"/>
          <p:cNvSpPr/>
          <p:nvPr/>
        </p:nvSpPr>
        <p:spPr>
          <a:xfrm>
            <a:off x="8165520" y="3145680"/>
            <a:ext cx="959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Unclear availability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0"/>
          <p:cNvSpPr/>
          <p:nvPr/>
        </p:nvSpPr>
        <p:spPr>
          <a:xfrm>
            <a:off x="9500760" y="3008520"/>
            <a:ext cx="169128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1"/>
          <p:cNvSpPr/>
          <p:nvPr/>
        </p:nvSpPr>
        <p:spPr>
          <a:xfrm>
            <a:off x="9619560" y="3191400"/>
            <a:ext cx="383760" cy="383760"/>
          </a:xfrm>
          <a:prstGeom prst="ellipse">
            <a:avLst/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2"/>
          <p:cNvSpPr/>
          <p:nvPr/>
        </p:nvSpPr>
        <p:spPr>
          <a:xfrm>
            <a:off x="9619560" y="3191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!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3"/>
          <p:cNvSpPr/>
          <p:nvPr/>
        </p:nvSpPr>
        <p:spPr>
          <a:xfrm>
            <a:off x="10104120" y="3145680"/>
            <a:ext cx="959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Double-booking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4"/>
          <p:cNvSpPr/>
          <p:nvPr/>
        </p:nvSpPr>
        <p:spPr>
          <a:xfrm>
            <a:off x="5623560" y="4142160"/>
            <a:ext cx="2761200" cy="1188360"/>
          </a:xfrm>
          <a:prstGeom prst="roundRect">
            <a:avLst>
              <a:gd name="adj" fmla="val 7692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5"/>
          <p:cNvSpPr/>
          <p:nvPr/>
        </p:nvSpPr>
        <p:spPr>
          <a:xfrm>
            <a:off x="5870520" y="438912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CUSTOMERS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6"/>
          <p:cNvSpPr/>
          <p:nvPr/>
        </p:nvSpPr>
        <p:spPr>
          <a:xfrm>
            <a:off x="5870520" y="4681800"/>
            <a:ext cx="2239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Limited visibility.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Time-consuming enquiries.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7"/>
          <p:cNvSpPr/>
          <p:nvPr/>
        </p:nvSpPr>
        <p:spPr>
          <a:xfrm>
            <a:off x="8549640" y="4142160"/>
            <a:ext cx="276120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8"/>
          <p:cNvSpPr/>
          <p:nvPr/>
        </p:nvSpPr>
        <p:spPr>
          <a:xfrm>
            <a:off x="8796600" y="43891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HALL OWNERS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9"/>
          <p:cNvSpPr/>
          <p:nvPr/>
        </p:nvSpPr>
        <p:spPr>
          <a:xfrm>
            <a:off x="8796600" y="4681800"/>
            <a:ext cx="2212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Manual records.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Difficult booking control.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0"/>
          <p:cNvSpPr/>
          <p:nvPr/>
        </p:nvSpPr>
        <p:spPr>
          <a:xfrm>
            <a:off x="5623560" y="5641920"/>
            <a:ext cx="5687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The result: more effort, less confidence.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1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2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03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Introducing HallMate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One focused platform for venue discovery, availability and booking.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567000" y="1847160"/>
            <a:ext cx="2971440" cy="4068720"/>
          </a:xfrm>
          <a:prstGeom prst="roundRect">
            <a:avLst>
              <a:gd name="adj" fmla="val 3692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868680" y="21945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THE PROMISE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868680" y="2541960"/>
            <a:ext cx="23313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 centralized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venue booking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experience.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868680" y="4251960"/>
            <a:ext cx="221256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CE4EA"/>
                </a:solidFill>
                <a:effectLst/>
                <a:uFillTx/>
                <a:latin typeface="Aptos"/>
                <a:ea typeface="Aptos"/>
              </a:rPr>
              <a:t>Customers discover.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CE4EA"/>
                </a:solidFill>
                <a:effectLst/>
                <a:uFillTx/>
                <a:latin typeface="Aptos"/>
                <a:ea typeface="Aptos"/>
              </a:rPr>
              <a:t>Owners manage.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CE4EA"/>
                </a:solidFill>
                <a:effectLst/>
                <a:uFillTx/>
                <a:latin typeface="Aptos"/>
                <a:ea typeface="Aptos"/>
              </a:rPr>
              <a:t>Administrators oversee.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868680" y="5413320"/>
            <a:ext cx="804240" cy="310680"/>
          </a:xfrm>
          <a:prstGeom prst="roundRect">
            <a:avLst>
              <a:gd name="adj" fmla="val 44118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868680" y="5413320"/>
            <a:ext cx="804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CUSTOMER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1755720" y="5413320"/>
            <a:ext cx="658080" cy="310680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1755720" y="5413320"/>
            <a:ext cx="658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OWNER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2496240" y="5413320"/>
            <a:ext cx="658080" cy="310680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2496240" y="5413320"/>
            <a:ext cx="658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ADMIN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3794760" y="1819800"/>
            <a:ext cx="7506720" cy="3126960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0" descr="HallMate Explore page showing venue search and hall cards"/>
          <p:cNvPicPr/>
          <p:nvPr/>
        </p:nvPicPr>
        <p:blipFill>
          <a:blip r:embed="rId3"/>
          <a:stretch/>
        </p:blipFill>
        <p:spPr>
          <a:xfrm>
            <a:off x="3822120" y="1847160"/>
            <a:ext cx="745200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Shape 18"/>
          <p:cNvSpPr/>
          <p:nvPr/>
        </p:nvSpPr>
        <p:spPr>
          <a:xfrm>
            <a:off x="4572000" y="519372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4572000" y="51937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4160520" y="5632560"/>
            <a:ext cx="1170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DISCOVER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1"/>
          <p:cNvSpPr/>
          <p:nvPr/>
        </p:nvSpPr>
        <p:spPr>
          <a:xfrm>
            <a:off x="5440680" y="5285160"/>
            <a:ext cx="31068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2"/>
          <p:cNvSpPr/>
          <p:nvPr/>
        </p:nvSpPr>
        <p:spPr>
          <a:xfrm>
            <a:off x="6327720" y="519372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6327720" y="51937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5916240" y="5632560"/>
            <a:ext cx="1170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CHECK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AVAILABILITY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5"/>
          <p:cNvSpPr/>
          <p:nvPr/>
        </p:nvSpPr>
        <p:spPr>
          <a:xfrm>
            <a:off x="7196400" y="5285160"/>
            <a:ext cx="31068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6"/>
          <p:cNvSpPr/>
          <p:nvPr/>
        </p:nvSpPr>
        <p:spPr>
          <a:xfrm>
            <a:off x="8083440" y="519372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7"/>
          <p:cNvSpPr/>
          <p:nvPr/>
        </p:nvSpPr>
        <p:spPr>
          <a:xfrm>
            <a:off x="8083440" y="51937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8"/>
          <p:cNvSpPr/>
          <p:nvPr/>
        </p:nvSpPr>
        <p:spPr>
          <a:xfrm>
            <a:off x="7671960" y="5632560"/>
            <a:ext cx="1170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BOOK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9"/>
          <p:cNvSpPr/>
          <p:nvPr/>
        </p:nvSpPr>
        <p:spPr>
          <a:xfrm>
            <a:off x="8952120" y="5285160"/>
            <a:ext cx="31068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0"/>
          <p:cNvSpPr/>
          <p:nvPr/>
        </p:nvSpPr>
        <p:spPr>
          <a:xfrm>
            <a:off x="9838800" y="519372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1"/>
          <p:cNvSpPr/>
          <p:nvPr/>
        </p:nvSpPr>
        <p:spPr>
          <a:xfrm>
            <a:off x="9838800" y="51937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2"/>
          <p:cNvSpPr/>
          <p:nvPr/>
        </p:nvSpPr>
        <p:spPr>
          <a:xfrm>
            <a:off x="9427320" y="5632560"/>
            <a:ext cx="1170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GET UPDATES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3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4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04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 Simpler Way to Book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A clear journey from search to confirmation.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539640" y="1819800"/>
            <a:ext cx="6683760" cy="3574800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HallMate Explore page with search filters and venue cards"/>
          <p:cNvPicPr/>
          <p:nvPr/>
        </p:nvPicPr>
        <p:blipFill>
          <a:blip r:embed="rId3"/>
          <a:stretch/>
        </p:blipFill>
        <p:spPr>
          <a:xfrm>
            <a:off x="567000" y="1847160"/>
            <a:ext cx="6629040" cy="35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Shape 8"/>
          <p:cNvSpPr/>
          <p:nvPr/>
        </p:nvSpPr>
        <p:spPr>
          <a:xfrm>
            <a:off x="7452360" y="1847160"/>
            <a:ext cx="4169160" cy="35200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7754040" y="2112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CUSTOMER JOURNEY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7754040" y="254196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7754040" y="2541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7754040" y="286200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Search halls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3"/>
          <p:cNvSpPr/>
          <p:nvPr/>
        </p:nvSpPr>
        <p:spPr>
          <a:xfrm>
            <a:off x="8915400" y="254196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8915400" y="2541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8915400" y="286200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Apply filters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10076760" y="254196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10076760" y="2541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10076760" y="286200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View details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9"/>
          <p:cNvSpPr/>
          <p:nvPr/>
        </p:nvSpPr>
        <p:spPr>
          <a:xfrm>
            <a:off x="7754040" y="339228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0"/>
          <p:cNvSpPr/>
          <p:nvPr/>
        </p:nvSpPr>
        <p:spPr>
          <a:xfrm>
            <a:off x="7754040" y="3392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1"/>
          <p:cNvSpPr/>
          <p:nvPr/>
        </p:nvSpPr>
        <p:spPr>
          <a:xfrm>
            <a:off x="7754040" y="371232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Check availability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2"/>
          <p:cNvSpPr/>
          <p:nvPr/>
        </p:nvSpPr>
        <p:spPr>
          <a:xfrm>
            <a:off x="8915400" y="339228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3"/>
          <p:cNvSpPr/>
          <p:nvPr/>
        </p:nvSpPr>
        <p:spPr>
          <a:xfrm>
            <a:off x="8915400" y="3392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8915400" y="371232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Enter event details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10076760" y="339228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6"/>
          <p:cNvSpPr/>
          <p:nvPr/>
        </p:nvSpPr>
        <p:spPr>
          <a:xfrm>
            <a:off x="10076760" y="3392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10076760" y="371232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Review booking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8"/>
          <p:cNvSpPr/>
          <p:nvPr/>
        </p:nvSpPr>
        <p:spPr>
          <a:xfrm>
            <a:off x="7754040" y="424296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9"/>
          <p:cNvSpPr/>
          <p:nvPr/>
        </p:nvSpPr>
        <p:spPr>
          <a:xfrm>
            <a:off x="7754040" y="4242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0"/>
          <p:cNvSpPr/>
          <p:nvPr/>
        </p:nvSpPr>
        <p:spPr>
          <a:xfrm>
            <a:off x="7754040" y="456300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Sign in / register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1"/>
          <p:cNvSpPr/>
          <p:nvPr/>
        </p:nvSpPr>
        <p:spPr>
          <a:xfrm>
            <a:off x="8915400" y="4242960"/>
            <a:ext cx="273960" cy="2739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2"/>
          <p:cNvSpPr/>
          <p:nvPr/>
        </p:nvSpPr>
        <p:spPr>
          <a:xfrm>
            <a:off x="8915400" y="4242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3"/>
          <p:cNvSpPr/>
          <p:nvPr/>
        </p:nvSpPr>
        <p:spPr>
          <a:xfrm>
            <a:off x="8915400" y="456300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Confirm booking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4"/>
          <p:cNvSpPr/>
          <p:nvPr/>
        </p:nvSpPr>
        <p:spPr>
          <a:xfrm>
            <a:off x="10076760" y="4242960"/>
            <a:ext cx="273960" cy="273960"/>
          </a:xfrm>
          <a:prstGeom prst="ellipse">
            <a:avLst/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5"/>
          <p:cNvSpPr/>
          <p:nvPr/>
        </p:nvSpPr>
        <p:spPr>
          <a:xfrm>
            <a:off x="10076760" y="4242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6"/>
          <p:cNvSpPr/>
          <p:nvPr/>
        </p:nvSpPr>
        <p:spPr>
          <a:xfrm>
            <a:off x="10076760" y="4563000"/>
            <a:ext cx="1023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Receive notification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7"/>
          <p:cNvSpPr/>
          <p:nvPr/>
        </p:nvSpPr>
        <p:spPr>
          <a:xfrm>
            <a:off x="658440" y="56966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KEY 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8"/>
          <p:cNvSpPr/>
          <p:nvPr/>
        </p:nvSpPr>
        <p:spPr>
          <a:xfrm>
            <a:off x="2011680" y="5605200"/>
            <a:ext cx="13528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9"/>
          <p:cNvSpPr/>
          <p:nvPr/>
        </p:nvSpPr>
        <p:spPr>
          <a:xfrm>
            <a:off x="2011680" y="5605200"/>
            <a:ext cx="1352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Location &amp; event type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0"/>
          <p:cNvSpPr/>
          <p:nvPr/>
        </p:nvSpPr>
        <p:spPr>
          <a:xfrm>
            <a:off x="3538800" y="5605200"/>
            <a:ext cx="13528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1"/>
          <p:cNvSpPr/>
          <p:nvPr/>
        </p:nvSpPr>
        <p:spPr>
          <a:xfrm>
            <a:off x="3538800" y="5605200"/>
            <a:ext cx="1352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Capacity &amp; price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2"/>
          <p:cNvSpPr/>
          <p:nvPr/>
        </p:nvSpPr>
        <p:spPr>
          <a:xfrm>
            <a:off x="5065920" y="5605200"/>
            <a:ext cx="13528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3"/>
          <p:cNvSpPr/>
          <p:nvPr/>
        </p:nvSpPr>
        <p:spPr>
          <a:xfrm>
            <a:off x="5065920" y="5605200"/>
            <a:ext cx="1352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Amenities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4"/>
          <p:cNvSpPr/>
          <p:nvPr/>
        </p:nvSpPr>
        <p:spPr>
          <a:xfrm>
            <a:off x="6592680" y="5605200"/>
            <a:ext cx="1352880" cy="310680"/>
          </a:xfrm>
          <a:prstGeom prst="roundRect">
            <a:avLst>
              <a:gd name="adj" fmla="val 44118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5"/>
          <p:cNvSpPr/>
          <p:nvPr/>
        </p:nvSpPr>
        <p:spPr>
          <a:xfrm>
            <a:off x="6592680" y="5605200"/>
            <a:ext cx="1352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Gallery &amp; 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6"/>
          <p:cNvSpPr/>
          <p:nvPr/>
        </p:nvSpPr>
        <p:spPr>
          <a:xfrm>
            <a:off x="8119800" y="5605200"/>
            <a:ext cx="13528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7"/>
          <p:cNvSpPr/>
          <p:nvPr/>
        </p:nvSpPr>
        <p:spPr>
          <a:xfrm>
            <a:off x="8119800" y="5605200"/>
            <a:ext cx="1352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Favorites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8"/>
          <p:cNvSpPr/>
          <p:nvPr/>
        </p:nvSpPr>
        <p:spPr>
          <a:xfrm>
            <a:off x="9646920" y="5605200"/>
            <a:ext cx="13528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9"/>
          <p:cNvSpPr/>
          <p:nvPr/>
        </p:nvSpPr>
        <p:spPr>
          <a:xfrm>
            <a:off x="9646920" y="5605200"/>
            <a:ext cx="1352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Profile &amp; settings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0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1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05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From Hall Discovery to Booking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Every decision point stays visible and structured.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539640" y="1801440"/>
            <a:ext cx="5614200" cy="339192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0" descr="HallMate venue details and availability panel"/>
          <p:cNvPicPr/>
          <p:nvPr/>
        </p:nvPicPr>
        <p:blipFill>
          <a:blip r:embed="rId3"/>
          <a:stretch/>
        </p:blipFill>
        <p:spPr>
          <a:xfrm>
            <a:off x="567000" y="1828800"/>
            <a:ext cx="555912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Shape 8"/>
          <p:cNvSpPr/>
          <p:nvPr/>
        </p:nvSpPr>
        <p:spPr>
          <a:xfrm>
            <a:off x="6327720" y="1801440"/>
            <a:ext cx="5321520" cy="3391920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1" descr="HallMate availability request form"/>
          <p:cNvPicPr/>
          <p:nvPr/>
        </p:nvPicPr>
        <p:blipFill>
          <a:blip r:embed="rId4"/>
          <a:stretch/>
        </p:blipFill>
        <p:spPr>
          <a:xfrm>
            <a:off x="6355080" y="1828800"/>
            <a:ext cx="526644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Shape 9"/>
          <p:cNvSpPr/>
          <p:nvPr/>
        </p:nvSpPr>
        <p:spPr>
          <a:xfrm>
            <a:off x="1110960" y="537660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1110960" y="5376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713160" y="58154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 DETAILS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1956960" y="5468040"/>
            <a:ext cx="24660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2976480" y="537660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2976480" y="5376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2578680" y="58154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CHECK AVAILABILITY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3822120" y="5468040"/>
            <a:ext cx="24660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4841640" y="537660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8"/>
          <p:cNvSpPr/>
          <p:nvPr/>
        </p:nvSpPr>
        <p:spPr>
          <a:xfrm>
            <a:off x="4841640" y="5376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4443840" y="58154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BOOKING DETAILS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>
            <a:off x="5687640" y="5468040"/>
            <a:ext cx="24660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1"/>
          <p:cNvSpPr/>
          <p:nvPr/>
        </p:nvSpPr>
        <p:spPr>
          <a:xfrm>
            <a:off x="6707160" y="537660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6707160" y="5376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6309360" y="58154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7552800" y="5468040"/>
            <a:ext cx="24660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8572680" y="537660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6"/>
          <p:cNvSpPr/>
          <p:nvPr/>
        </p:nvSpPr>
        <p:spPr>
          <a:xfrm>
            <a:off x="8572680" y="5376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7"/>
          <p:cNvSpPr/>
          <p:nvPr/>
        </p:nvSpPr>
        <p:spPr>
          <a:xfrm>
            <a:off x="8174880" y="58154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8"/>
          <p:cNvSpPr/>
          <p:nvPr/>
        </p:nvSpPr>
        <p:spPr>
          <a:xfrm>
            <a:off x="9418320" y="5468040"/>
            <a:ext cx="24660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9"/>
          <p:cNvSpPr/>
          <p:nvPr/>
        </p:nvSpPr>
        <p:spPr>
          <a:xfrm>
            <a:off x="10437840" y="5376600"/>
            <a:ext cx="347040" cy="34704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0"/>
          <p:cNvSpPr/>
          <p:nvPr/>
        </p:nvSpPr>
        <p:spPr>
          <a:xfrm>
            <a:off x="10437840" y="5376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1"/>
          <p:cNvSpPr/>
          <p:nvPr/>
        </p:nvSpPr>
        <p:spPr>
          <a:xfrm>
            <a:off x="10040040" y="58154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CONFIRM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2"/>
          <p:cNvSpPr/>
          <p:nvPr/>
        </p:nvSpPr>
        <p:spPr>
          <a:xfrm>
            <a:off x="749880" y="4553640"/>
            <a:ext cx="1225080" cy="310680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3"/>
          <p:cNvSpPr/>
          <p:nvPr/>
        </p:nvSpPr>
        <p:spPr>
          <a:xfrm>
            <a:off x="749880" y="4553640"/>
            <a:ext cx="1225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Name + location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4"/>
          <p:cNvSpPr/>
          <p:nvPr/>
        </p:nvSpPr>
        <p:spPr>
          <a:xfrm>
            <a:off x="2084760" y="4553640"/>
            <a:ext cx="785880" cy="310680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5"/>
          <p:cNvSpPr/>
          <p:nvPr/>
        </p:nvSpPr>
        <p:spPr>
          <a:xfrm>
            <a:off x="2084760" y="4553640"/>
            <a:ext cx="785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Gallery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6"/>
          <p:cNvSpPr/>
          <p:nvPr/>
        </p:nvSpPr>
        <p:spPr>
          <a:xfrm>
            <a:off x="2999160" y="4553640"/>
            <a:ext cx="1279800" cy="310680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7"/>
          <p:cNvSpPr/>
          <p:nvPr/>
        </p:nvSpPr>
        <p:spPr>
          <a:xfrm>
            <a:off x="2999160" y="4553640"/>
            <a:ext cx="1279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Capacity + price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8"/>
          <p:cNvSpPr/>
          <p:nvPr/>
        </p:nvSpPr>
        <p:spPr>
          <a:xfrm>
            <a:off x="4407480" y="4553640"/>
            <a:ext cx="987120" cy="310680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9"/>
          <p:cNvSpPr/>
          <p:nvPr/>
        </p:nvSpPr>
        <p:spPr>
          <a:xfrm>
            <a:off x="4407480" y="4553640"/>
            <a:ext cx="987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Amenities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0"/>
          <p:cNvSpPr/>
          <p:nvPr/>
        </p:nvSpPr>
        <p:spPr>
          <a:xfrm>
            <a:off x="6565320" y="4553640"/>
            <a:ext cx="603000" cy="310680"/>
          </a:xfrm>
          <a:prstGeom prst="roundRect">
            <a:avLst>
              <a:gd name="adj" fmla="val 44118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1"/>
          <p:cNvSpPr/>
          <p:nvPr/>
        </p:nvSpPr>
        <p:spPr>
          <a:xfrm>
            <a:off x="6565320" y="4553640"/>
            <a:ext cx="603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2"/>
          <p:cNvSpPr/>
          <p:nvPr/>
        </p:nvSpPr>
        <p:spPr>
          <a:xfrm>
            <a:off x="7278480" y="4553640"/>
            <a:ext cx="712800" cy="310680"/>
          </a:xfrm>
          <a:prstGeom prst="roundRect">
            <a:avLst>
              <a:gd name="adj" fmla="val 44118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3"/>
          <p:cNvSpPr/>
          <p:nvPr/>
        </p:nvSpPr>
        <p:spPr>
          <a:xfrm>
            <a:off x="7278480" y="4553640"/>
            <a:ext cx="71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Guests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4"/>
          <p:cNvSpPr/>
          <p:nvPr/>
        </p:nvSpPr>
        <p:spPr>
          <a:xfrm>
            <a:off x="8101440" y="4553640"/>
            <a:ext cx="959760" cy="310680"/>
          </a:xfrm>
          <a:prstGeom prst="roundRect">
            <a:avLst>
              <a:gd name="adj" fmla="val 44118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5"/>
          <p:cNvSpPr/>
          <p:nvPr/>
        </p:nvSpPr>
        <p:spPr>
          <a:xfrm>
            <a:off x="8101440" y="4553640"/>
            <a:ext cx="959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Event type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6"/>
          <p:cNvSpPr/>
          <p:nvPr/>
        </p:nvSpPr>
        <p:spPr>
          <a:xfrm>
            <a:off x="9171360" y="4553640"/>
            <a:ext cx="1060200" cy="310680"/>
          </a:xfrm>
          <a:prstGeom prst="roundRect">
            <a:avLst>
              <a:gd name="adj" fmla="val 44118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7"/>
          <p:cNvSpPr/>
          <p:nvPr/>
        </p:nvSpPr>
        <p:spPr>
          <a:xfrm>
            <a:off x="9171360" y="4553640"/>
            <a:ext cx="1060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Requirements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48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9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06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Powerful Management, Kept Simple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Purpose-built views for hall owners and platform administrators.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567000" y="1792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HALL OWNER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539640" y="2057400"/>
            <a:ext cx="5586480" cy="2998800"/>
          </a:xfrm>
          <a:prstGeom prst="roundRect">
            <a:avLst>
              <a:gd name="adj" fmla="val 3963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HallMate owner dashboard showing halls"/>
          <p:cNvPicPr/>
          <p:nvPr/>
        </p:nvPicPr>
        <p:blipFill>
          <a:blip r:embed="rId3"/>
          <a:stretch/>
        </p:blipFill>
        <p:spPr>
          <a:xfrm>
            <a:off x="567000" y="2084760"/>
            <a:ext cx="5531760" cy="29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9"/>
          <p:cNvSpPr/>
          <p:nvPr/>
        </p:nvSpPr>
        <p:spPr>
          <a:xfrm>
            <a:off x="6327720" y="17920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ADMIN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0"/>
          <p:cNvSpPr/>
          <p:nvPr/>
        </p:nvSpPr>
        <p:spPr>
          <a:xfrm>
            <a:off x="6300360" y="2057400"/>
            <a:ext cx="5348880" cy="2998800"/>
          </a:xfrm>
          <a:prstGeom prst="roundRect">
            <a:avLst>
              <a:gd name="adj" fmla="val 3963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1" descr="HallMate minimal administrator dashboard"/>
          <p:cNvPicPr/>
          <p:nvPr/>
        </p:nvPicPr>
        <p:blipFill>
          <a:blip r:embed="rId4"/>
          <a:stretch/>
        </p:blipFill>
        <p:spPr>
          <a:xfrm>
            <a:off x="6327720" y="2084760"/>
            <a:ext cx="5294160" cy="29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Shape 11"/>
          <p:cNvSpPr/>
          <p:nvPr/>
        </p:nvSpPr>
        <p:spPr>
          <a:xfrm>
            <a:off x="567000" y="5285160"/>
            <a:ext cx="5531760" cy="685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804600" y="5449680"/>
            <a:ext cx="5074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List hall   ·   Manage details &amp; availability   ·   Review requests   ·   Accept / reject   ·   Track bookings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3"/>
          <p:cNvSpPr/>
          <p:nvPr/>
        </p:nvSpPr>
        <p:spPr>
          <a:xfrm>
            <a:off x="6327720" y="5285160"/>
            <a:ext cx="5294160" cy="685440"/>
          </a:xfrm>
          <a:prstGeom prst="roundRect">
            <a:avLst>
              <a:gd name="adj" fmla="val 12000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6565320" y="5449680"/>
            <a:ext cx="48186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Overview   ·   Users   ·   Halls   ·   Bookings   ·   Basic reports &amp; statistics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6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07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Stay Connected After Booking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A transparent request cycle keeps customers and hall owners aligned.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594360" y="1856160"/>
            <a:ext cx="234036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795600" y="19933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CUSTOMER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795600" y="22676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SUBMITS REQUEST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3063240" y="2139840"/>
            <a:ext cx="28296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3465720" y="1856160"/>
            <a:ext cx="234036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3666600" y="19933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HALL OWNER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3"/>
          <p:cNvSpPr/>
          <p:nvPr/>
        </p:nvSpPr>
        <p:spPr>
          <a:xfrm>
            <a:off x="3666600" y="22676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REVIEWS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4"/>
          <p:cNvSpPr/>
          <p:nvPr/>
        </p:nvSpPr>
        <p:spPr>
          <a:xfrm>
            <a:off x="5934600" y="2139840"/>
            <a:ext cx="28296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5"/>
          <p:cNvSpPr/>
          <p:nvPr/>
        </p:nvSpPr>
        <p:spPr>
          <a:xfrm>
            <a:off x="6336720" y="1856160"/>
            <a:ext cx="2340360" cy="785880"/>
          </a:xfrm>
          <a:prstGeom prst="roundRect">
            <a:avLst>
              <a:gd name="adj" fmla="val 11628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6"/>
          <p:cNvSpPr/>
          <p:nvPr/>
        </p:nvSpPr>
        <p:spPr>
          <a:xfrm>
            <a:off x="6537960" y="19933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DECISION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6537960" y="22676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ACCEPT / REJECT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8"/>
          <p:cNvSpPr/>
          <p:nvPr/>
        </p:nvSpPr>
        <p:spPr>
          <a:xfrm>
            <a:off x="8805600" y="2139840"/>
            <a:ext cx="282960" cy="200880"/>
          </a:xfrm>
          <a:prstGeom prst="chevron">
            <a:avLst>
              <a:gd name="adj" fmla="val 50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9"/>
          <p:cNvSpPr/>
          <p:nvPr/>
        </p:nvSpPr>
        <p:spPr>
          <a:xfrm>
            <a:off x="9208080" y="1856160"/>
            <a:ext cx="2340360" cy="78588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0"/>
          <p:cNvSpPr/>
          <p:nvPr/>
        </p:nvSpPr>
        <p:spPr>
          <a:xfrm>
            <a:off x="9409320" y="19933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CUSTOMER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1"/>
          <p:cNvSpPr/>
          <p:nvPr/>
        </p:nvSpPr>
        <p:spPr>
          <a:xfrm>
            <a:off x="9409320" y="2267640"/>
            <a:ext cx="190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GETS NOTIFIED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2"/>
          <p:cNvSpPr/>
          <p:nvPr/>
        </p:nvSpPr>
        <p:spPr>
          <a:xfrm>
            <a:off x="594360" y="2944440"/>
            <a:ext cx="6610680" cy="2532600"/>
          </a:xfrm>
          <a:prstGeom prst="roundRect">
            <a:avLst>
              <a:gd name="adj" fmla="val 4332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887040" y="321876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LIVE BOOKING STATES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4"/>
          <p:cNvSpPr/>
          <p:nvPr/>
        </p:nvSpPr>
        <p:spPr>
          <a:xfrm>
            <a:off x="896040" y="3684960"/>
            <a:ext cx="1782720" cy="129816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5"/>
          <p:cNvSpPr/>
          <p:nvPr/>
        </p:nvSpPr>
        <p:spPr>
          <a:xfrm>
            <a:off x="1042560" y="3877200"/>
            <a:ext cx="383760" cy="383760"/>
          </a:xfrm>
          <a:prstGeom prst="ellipse">
            <a:avLst/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6"/>
          <p:cNvSpPr/>
          <p:nvPr/>
        </p:nvSpPr>
        <p:spPr>
          <a:xfrm>
            <a:off x="1042560" y="3877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7"/>
          <p:cNvSpPr/>
          <p:nvPr/>
        </p:nvSpPr>
        <p:spPr>
          <a:xfrm>
            <a:off x="1042560" y="4316040"/>
            <a:ext cx="14810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Booking Request Submitted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1042560" y="4617720"/>
            <a:ext cx="148104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Your request is waiting for owner review.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9"/>
          <p:cNvSpPr/>
          <p:nvPr/>
        </p:nvSpPr>
        <p:spPr>
          <a:xfrm>
            <a:off x="2889360" y="3684960"/>
            <a:ext cx="1782720" cy="129816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0"/>
          <p:cNvSpPr/>
          <p:nvPr/>
        </p:nvSpPr>
        <p:spPr>
          <a:xfrm>
            <a:off x="3035880" y="3877200"/>
            <a:ext cx="383760" cy="38376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1"/>
          <p:cNvSpPr/>
          <p:nvPr/>
        </p:nvSpPr>
        <p:spPr>
          <a:xfrm>
            <a:off x="3035880" y="3877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2"/>
          <p:cNvSpPr/>
          <p:nvPr/>
        </p:nvSpPr>
        <p:spPr>
          <a:xfrm>
            <a:off x="3035880" y="4316040"/>
            <a:ext cx="14810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Booking Accepted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3"/>
          <p:cNvSpPr/>
          <p:nvPr/>
        </p:nvSpPr>
        <p:spPr>
          <a:xfrm>
            <a:off x="3035880" y="4617720"/>
            <a:ext cx="148104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Your venue request has been approved.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4"/>
          <p:cNvSpPr/>
          <p:nvPr/>
        </p:nvSpPr>
        <p:spPr>
          <a:xfrm>
            <a:off x="4883040" y="3684960"/>
            <a:ext cx="1782720" cy="129816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5"/>
          <p:cNvSpPr/>
          <p:nvPr/>
        </p:nvSpPr>
        <p:spPr>
          <a:xfrm>
            <a:off x="5029200" y="3877200"/>
            <a:ext cx="383760" cy="383760"/>
          </a:xfrm>
          <a:prstGeom prst="ellipse">
            <a:avLst/>
          </a:prstGeom>
          <a:solidFill>
            <a:srgbClr val="C83E45"/>
          </a:solidFill>
          <a:ln w="12700">
            <a:solidFill>
              <a:srgbClr val="C83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6"/>
          <p:cNvSpPr/>
          <p:nvPr/>
        </p:nvSpPr>
        <p:spPr>
          <a:xfrm>
            <a:off x="5029200" y="3877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5029200" y="4316040"/>
            <a:ext cx="14810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Booking Rejected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5029200" y="4617720"/>
            <a:ext cx="148104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Explore other halls for your event.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9"/>
          <p:cNvSpPr/>
          <p:nvPr/>
        </p:nvSpPr>
        <p:spPr>
          <a:xfrm>
            <a:off x="7452360" y="2917080"/>
            <a:ext cx="4196880" cy="2587320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0" descr="HallMate booking accepted and rejected status interface"/>
          <p:cNvPicPr/>
          <p:nvPr/>
        </p:nvPicPr>
        <p:blipFill>
          <a:blip r:embed="rId3"/>
          <a:stretch/>
        </p:blipFill>
        <p:spPr>
          <a:xfrm>
            <a:off x="7479720" y="2944440"/>
            <a:ext cx="4141800" cy="25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Shape 40"/>
          <p:cNvSpPr/>
          <p:nvPr/>
        </p:nvSpPr>
        <p:spPr>
          <a:xfrm>
            <a:off x="631080" y="57060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1"/>
          <p:cNvSpPr/>
          <p:nvPr/>
        </p:nvSpPr>
        <p:spPr>
          <a:xfrm>
            <a:off x="631080" y="57060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Discovery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42"/>
          <p:cNvSpPr/>
          <p:nvPr/>
        </p:nvSpPr>
        <p:spPr>
          <a:xfrm>
            <a:off x="1901880" y="57060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3"/>
          <p:cNvSpPr/>
          <p:nvPr/>
        </p:nvSpPr>
        <p:spPr>
          <a:xfrm>
            <a:off x="1901880" y="57060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Search &amp; filters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44"/>
          <p:cNvSpPr/>
          <p:nvPr/>
        </p:nvSpPr>
        <p:spPr>
          <a:xfrm>
            <a:off x="3173040" y="57060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5"/>
          <p:cNvSpPr/>
          <p:nvPr/>
        </p:nvSpPr>
        <p:spPr>
          <a:xfrm>
            <a:off x="3173040" y="57060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Details &amp; gallery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6"/>
          <p:cNvSpPr/>
          <p:nvPr/>
        </p:nvSpPr>
        <p:spPr>
          <a:xfrm>
            <a:off x="4443840" y="57060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7"/>
          <p:cNvSpPr/>
          <p:nvPr/>
        </p:nvSpPr>
        <p:spPr>
          <a:xfrm>
            <a:off x="4443840" y="57060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Availability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8"/>
          <p:cNvSpPr/>
          <p:nvPr/>
        </p:nvSpPr>
        <p:spPr>
          <a:xfrm>
            <a:off x="5715000" y="57060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9"/>
          <p:cNvSpPr/>
          <p:nvPr/>
        </p:nvSpPr>
        <p:spPr>
          <a:xfrm>
            <a:off x="5715000" y="57060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Requests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50"/>
          <p:cNvSpPr/>
          <p:nvPr/>
        </p:nvSpPr>
        <p:spPr>
          <a:xfrm>
            <a:off x="631080" y="60624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51"/>
          <p:cNvSpPr/>
          <p:nvPr/>
        </p:nvSpPr>
        <p:spPr>
          <a:xfrm>
            <a:off x="631080" y="60624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Owner tools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2"/>
          <p:cNvSpPr/>
          <p:nvPr/>
        </p:nvSpPr>
        <p:spPr>
          <a:xfrm>
            <a:off x="1901880" y="60624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3"/>
          <p:cNvSpPr/>
          <p:nvPr/>
        </p:nvSpPr>
        <p:spPr>
          <a:xfrm>
            <a:off x="1901880" y="60624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Admin tools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4"/>
          <p:cNvSpPr/>
          <p:nvPr/>
        </p:nvSpPr>
        <p:spPr>
          <a:xfrm>
            <a:off x="3173040" y="60624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5"/>
          <p:cNvSpPr/>
          <p:nvPr/>
        </p:nvSpPr>
        <p:spPr>
          <a:xfrm>
            <a:off x="3173040" y="60624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Notifications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56"/>
          <p:cNvSpPr/>
          <p:nvPr/>
        </p:nvSpPr>
        <p:spPr>
          <a:xfrm>
            <a:off x="4443840" y="60624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57"/>
          <p:cNvSpPr/>
          <p:nvPr/>
        </p:nvSpPr>
        <p:spPr>
          <a:xfrm>
            <a:off x="4443840" y="60624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Favorites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58"/>
          <p:cNvSpPr/>
          <p:nvPr/>
        </p:nvSpPr>
        <p:spPr>
          <a:xfrm>
            <a:off x="5715000" y="6062400"/>
            <a:ext cx="1124280" cy="310680"/>
          </a:xfrm>
          <a:prstGeom prst="roundRect">
            <a:avLst>
              <a:gd name="adj" fmla="val 44118"/>
            </a:avLst>
          </a:prstGeom>
          <a:solidFill>
            <a:srgbClr val="F2EEE5"/>
          </a:solidFill>
          <a:ln w="12700">
            <a:solidFill>
              <a:srgbClr val="F2EE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59"/>
          <p:cNvSpPr/>
          <p:nvPr/>
        </p:nvSpPr>
        <p:spPr>
          <a:xfrm>
            <a:off x="5715000" y="6062400"/>
            <a:ext cx="1124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Profile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60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61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08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How HallMate Is Built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A focused, practical stack for a clear three-role platform.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567000" y="1847160"/>
            <a:ext cx="2871000" cy="4151160"/>
          </a:xfrm>
          <a:prstGeom prst="roundRect">
            <a:avLst>
              <a:gd name="adj" fmla="val 3822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859680" y="214884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TECHNOLOGY STACK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9"/>
          <p:cNvSpPr/>
          <p:nvPr/>
        </p:nvSpPr>
        <p:spPr>
          <a:xfrm>
            <a:off x="859680" y="258768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119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0"/>
          <p:cNvSpPr/>
          <p:nvPr/>
        </p:nvSpPr>
        <p:spPr>
          <a:xfrm>
            <a:off x="1719000" y="258768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React + Vite  ·  Tailwind CSS  ·  Lucide React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1"/>
          <p:cNvSpPr/>
          <p:nvPr/>
        </p:nvSpPr>
        <p:spPr>
          <a:xfrm>
            <a:off x="859680" y="352044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119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BACKEND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2"/>
          <p:cNvSpPr/>
          <p:nvPr/>
        </p:nvSpPr>
        <p:spPr>
          <a:xfrm>
            <a:off x="1719000" y="352044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Node.js  ·  Express.js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3"/>
          <p:cNvSpPr/>
          <p:nvPr/>
        </p:nvSpPr>
        <p:spPr>
          <a:xfrm>
            <a:off x="859680" y="427932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119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4"/>
          <p:cNvSpPr/>
          <p:nvPr/>
        </p:nvSpPr>
        <p:spPr>
          <a:xfrm>
            <a:off x="1719000" y="427932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PostgreSQL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5"/>
          <p:cNvSpPr/>
          <p:nvPr/>
        </p:nvSpPr>
        <p:spPr>
          <a:xfrm>
            <a:off x="859680" y="5038200"/>
            <a:ext cx="959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spc="119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TOOLS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6"/>
          <p:cNvSpPr/>
          <p:nvPr/>
        </p:nvSpPr>
        <p:spPr>
          <a:xfrm>
            <a:off x="1719000" y="503820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VS Code  ·  Git / GitHub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7"/>
          <p:cNvSpPr/>
          <p:nvPr/>
        </p:nvSpPr>
        <p:spPr>
          <a:xfrm>
            <a:off x="3858840" y="194760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SYSTEM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8"/>
          <p:cNvSpPr/>
          <p:nvPr/>
        </p:nvSpPr>
        <p:spPr>
          <a:xfrm>
            <a:off x="3858840" y="2350080"/>
            <a:ext cx="416916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9"/>
          <p:cNvSpPr/>
          <p:nvPr/>
        </p:nvSpPr>
        <p:spPr>
          <a:xfrm>
            <a:off x="4096440" y="2404800"/>
            <a:ext cx="26971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CUSTOMER  /  OWNER  /  ADMIN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0"/>
          <p:cNvSpPr/>
          <p:nvPr/>
        </p:nvSpPr>
        <p:spPr>
          <a:xfrm>
            <a:off x="6583680" y="2404800"/>
            <a:ext cx="117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People using HallMate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1"/>
          <p:cNvSpPr/>
          <p:nvPr/>
        </p:nvSpPr>
        <p:spPr>
          <a:xfrm>
            <a:off x="5788080" y="2907720"/>
            <a:ext cx="319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2"/>
          <p:cNvSpPr/>
          <p:nvPr/>
        </p:nvSpPr>
        <p:spPr>
          <a:xfrm>
            <a:off x="3858840" y="3182040"/>
            <a:ext cx="4169160" cy="548280"/>
          </a:xfrm>
          <a:prstGeom prst="roundRect">
            <a:avLst>
              <a:gd name="adj" fmla="val 15000"/>
            </a:avLst>
          </a:prstGeom>
          <a:solidFill>
            <a:srgbClr val="C6922E"/>
          </a:solidFill>
          <a:ln w="12700">
            <a:solidFill>
              <a:srgbClr val="C6922E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3"/>
          <p:cNvSpPr/>
          <p:nvPr/>
        </p:nvSpPr>
        <p:spPr>
          <a:xfrm>
            <a:off x="4096440" y="3237120"/>
            <a:ext cx="26971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REACT + VITE + TAILWIND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4"/>
          <p:cNvSpPr/>
          <p:nvPr/>
        </p:nvSpPr>
        <p:spPr>
          <a:xfrm>
            <a:off x="6583680" y="3237120"/>
            <a:ext cx="117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Interface &amp; experience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5"/>
          <p:cNvSpPr/>
          <p:nvPr/>
        </p:nvSpPr>
        <p:spPr>
          <a:xfrm>
            <a:off x="5788080" y="3740040"/>
            <a:ext cx="319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6"/>
          <p:cNvSpPr/>
          <p:nvPr/>
        </p:nvSpPr>
        <p:spPr>
          <a:xfrm>
            <a:off x="3858840" y="4014360"/>
            <a:ext cx="416916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7"/>
          <p:cNvSpPr/>
          <p:nvPr/>
        </p:nvSpPr>
        <p:spPr>
          <a:xfrm>
            <a:off x="4096440" y="4069080"/>
            <a:ext cx="26971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NODE.JS + EXPRESS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8"/>
          <p:cNvSpPr/>
          <p:nvPr/>
        </p:nvSpPr>
        <p:spPr>
          <a:xfrm>
            <a:off x="6583680" y="4069080"/>
            <a:ext cx="117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APIs &amp; application logic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9"/>
          <p:cNvSpPr/>
          <p:nvPr/>
        </p:nvSpPr>
        <p:spPr>
          <a:xfrm>
            <a:off x="5788080" y="4572000"/>
            <a:ext cx="319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0"/>
          <p:cNvSpPr/>
          <p:nvPr/>
        </p:nvSpPr>
        <p:spPr>
          <a:xfrm>
            <a:off x="3858840" y="4846320"/>
            <a:ext cx="4169160" cy="548280"/>
          </a:xfrm>
          <a:prstGeom prst="roundRect">
            <a:avLst>
              <a:gd name="adj" fmla="val 15000"/>
            </a:avLst>
          </a:prstGeom>
          <a:solidFill>
            <a:srgbClr val="0B2742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1"/>
          <p:cNvSpPr/>
          <p:nvPr/>
        </p:nvSpPr>
        <p:spPr>
          <a:xfrm>
            <a:off x="4096440" y="4901040"/>
            <a:ext cx="26971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POSTGRESQL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32"/>
          <p:cNvSpPr/>
          <p:nvPr/>
        </p:nvSpPr>
        <p:spPr>
          <a:xfrm>
            <a:off x="6583680" y="4901040"/>
            <a:ext cx="117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CE4EA"/>
                </a:solidFill>
                <a:effectLst/>
                <a:uFillTx/>
                <a:latin typeface="Aptos"/>
                <a:ea typeface="Aptos"/>
              </a:rPr>
              <a:t>Platform 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3"/>
          <p:cNvSpPr/>
          <p:nvPr/>
        </p:nvSpPr>
        <p:spPr>
          <a:xfrm>
            <a:off x="8348400" y="1847160"/>
            <a:ext cx="3273120" cy="4151160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4"/>
          <p:cNvSpPr/>
          <p:nvPr/>
        </p:nvSpPr>
        <p:spPr>
          <a:xfrm>
            <a:off x="8650080" y="21488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RESPONSIBILITIES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35"/>
          <p:cNvSpPr/>
          <p:nvPr/>
        </p:nvSpPr>
        <p:spPr>
          <a:xfrm>
            <a:off x="8650080" y="2651760"/>
            <a:ext cx="383760" cy="3837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6"/>
          <p:cNvSpPr/>
          <p:nvPr/>
        </p:nvSpPr>
        <p:spPr>
          <a:xfrm>
            <a:off x="8650080" y="2651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7"/>
          <p:cNvSpPr/>
          <p:nvPr/>
        </p:nvSpPr>
        <p:spPr>
          <a:xfrm>
            <a:off x="9180720" y="2642760"/>
            <a:ext cx="1956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8"/>
          <p:cNvSpPr/>
          <p:nvPr/>
        </p:nvSpPr>
        <p:spPr>
          <a:xfrm>
            <a:off x="9180720" y="29077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Handles every customer, owner and admin interface.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9"/>
          <p:cNvSpPr/>
          <p:nvPr/>
        </p:nvSpPr>
        <p:spPr>
          <a:xfrm>
            <a:off x="8650080" y="3611880"/>
            <a:ext cx="383760" cy="3837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0"/>
          <p:cNvSpPr/>
          <p:nvPr/>
        </p:nvSpPr>
        <p:spPr>
          <a:xfrm>
            <a:off x="8650080" y="3611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1"/>
          <p:cNvSpPr/>
          <p:nvPr/>
        </p:nvSpPr>
        <p:spPr>
          <a:xfrm>
            <a:off x="9180720" y="3602880"/>
            <a:ext cx="1956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Backend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2"/>
          <p:cNvSpPr/>
          <p:nvPr/>
        </p:nvSpPr>
        <p:spPr>
          <a:xfrm>
            <a:off x="9180720" y="386784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Manages APIs and application logic.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3"/>
          <p:cNvSpPr/>
          <p:nvPr/>
        </p:nvSpPr>
        <p:spPr>
          <a:xfrm>
            <a:off x="8650080" y="4572000"/>
            <a:ext cx="383760" cy="383760"/>
          </a:xfrm>
          <a:prstGeom prst="ellipse">
            <a:avLst/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44"/>
          <p:cNvSpPr/>
          <p:nvPr/>
        </p:nvSpPr>
        <p:spPr>
          <a:xfrm>
            <a:off x="8650080" y="4572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5"/>
          <p:cNvSpPr/>
          <p:nvPr/>
        </p:nvSpPr>
        <p:spPr>
          <a:xfrm>
            <a:off x="9180720" y="4563000"/>
            <a:ext cx="1956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6"/>
          <p:cNvSpPr/>
          <p:nvPr/>
        </p:nvSpPr>
        <p:spPr>
          <a:xfrm>
            <a:off x="9180720" y="482796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Stores platform and booking data.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47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8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511920" y="274320"/>
            <a:ext cx="347040" cy="347040"/>
          </a:xfrm>
          <a:prstGeom prst="roundRect">
            <a:avLst>
              <a:gd name="adj" fmla="val 21053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11920" y="274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951120" y="2653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16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951120" y="50292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9802440" y="38412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09  /  HALLMATE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567000" y="868680"/>
            <a:ext cx="8777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Impact &amp; Future Scope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585360" y="139896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Immediate value today — with a practical roadmap for tomorrow.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567000" y="1847160"/>
            <a:ext cx="2450160" cy="2651400"/>
          </a:xfrm>
          <a:prstGeom prst="roundRect">
            <a:avLst>
              <a:gd name="adj" fmla="val 4104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804600" y="21121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CUSTOMERS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841320" y="2578680"/>
            <a:ext cx="191988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167760" indent="-16776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Saves time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7760" indent="-16776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Easier discovery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7760" indent="-16776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Clearer availability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7760" indent="-16776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Simpler booking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3273480" y="1847160"/>
            <a:ext cx="2450160" cy="2651400"/>
          </a:xfrm>
          <a:prstGeom prst="roundRect">
            <a:avLst>
              <a:gd name="adj" fmla="val 4104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3511440" y="21121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HALL OWNERS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2"/>
          <p:cNvSpPr/>
          <p:nvPr/>
        </p:nvSpPr>
        <p:spPr>
          <a:xfrm>
            <a:off x="3547800" y="2578680"/>
            <a:ext cx="191988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167760" indent="-167760" defTabSz="914400">
              <a:lnSpc>
                <a:spcPct val="100000"/>
              </a:lnSpc>
              <a:buClr>
                <a:srgbClr val="11263A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11263A"/>
                </a:solidFill>
                <a:effectLst/>
                <a:uFillTx/>
                <a:latin typeface="Aptos"/>
                <a:ea typeface="Aptos"/>
              </a:rPr>
              <a:t>Organized requests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7760" indent="-167760" defTabSz="914400">
              <a:lnSpc>
                <a:spcPct val="100000"/>
              </a:lnSpc>
              <a:buClr>
                <a:srgbClr val="11263A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11263A"/>
                </a:solidFill>
                <a:effectLst/>
                <a:uFillTx/>
                <a:latin typeface="Aptos"/>
                <a:ea typeface="Aptos"/>
              </a:rPr>
              <a:t>Availability control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7760" indent="-167760" defTabSz="914400">
              <a:lnSpc>
                <a:spcPct val="100000"/>
              </a:lnSpc>
              <a:buClr>
                <a:srgbClr val="11263A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11263A"/>
                </a:solidFill>
                <a:effectLst/>
                <a:uFillTx/>
                <a:latin typeface="Aptos"/>
                <a:ea typeface="Aptos"/>
              </a:rPr>
              <a:t>Centralized hall info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3"/>
          <p:cNvSpPr/>
          <p:nvPr/>
        </p:nvSpPr>
        <p:spPr>
          <a:xfrm>
            <a:off x="5980320" y="1847160"/>
            <a:ext cx="2450160" cy="2651400"/>
          </a:xfrm>
          <a:prstGeom prst="roundRect">
            <a:avLst>
              <a:gd name="adj" fmla="val 4104"/>
            </a:avLst>
          </a:prstGeom>
          <a:solidFill>
            <a:srgbClr val="FFFFFF"/>
          </a:solidFill>
          <a:ln w="12700">
            <a:solidFill>
              <a:srgbClr val="E4DED2"/>
            </a:solidFill>
            <a:round/>
          </a:ln>
          <a:effectLst>
            <a:outerShdw blurRad="50760" dist="50402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6217920" y="21121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ADMIN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6254640" y="2578680"/>
            <a:ext cx="191988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167760" indent="-167760" defTabSz="914400">
              <a:lnSpc>
                <a:spcPct val="100000"/>
              </a:lnSpc>
              <a:buClr>
                <a:srgbClr val="11263A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11263A"/>
                </a:solidFill>
                <a:effectLst/>
                <a:uFillTx/>
                <a:latin typeface="Aptos"/>
                <a:ea typeface="Aptos"/>
              </a:rPr>
              <a:t>Central 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7760" indent="-167760" defTabSz="914400">
              <a:lnSpc>
                <a:spcPct val="100000"/>
              </a:lnSpc>
              <a:buClr>
                <a:srgbClr val="11263A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11263A"/>
                </a:solidFill>
                <a:effectLst/>
                <a:uFillTx/>
                <a:latin typeface="Aptos"/>
                <a:ea typeface="Aptos"/>
              </a:rPr>
              <a:t>Booking visibility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7760" indent="-167760" defTabSz="914400">
              <a:lnSpc>
                <a:spcPct val="100000"/>
              </a:lnSpc>
              <a:buClr>
                <a:srgbClr val="11263A"/>
              </a:buClr>
              <a:buFont typeface="Symbol" charset="2"/>
              <a:buChar char=""/>
            </a:pPr>
            <a:r>
              <a:rPr lang="en-US" sz="1320" b="0" u="none" strike="noStrike">
                <a:solidFill>
                  <a:srgbClr val="11263A"/>
                </a:solidFill>
                <a:effectLst/>
                <a:uFillTx/>
                <a:latin typeface="Aptos"/>
                <a:ea typeface="Aptos"/>
              </a:rPr>
              <a:t>Organized records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6"/>
          <p:cNvSpPr/>
          <p:nvPr/>
        </p:nvSpPr>
        <p:spPr>
          <a:xfrm>
            <a:off x="8869680" y="1847160"/>
            <a:ext cx="2751840" cy="4160160"/>
          </a:xfrm>
          <a:prstGeom prst="roundRect">
            <a:avLst>
              <a:gd name="adj" fmla="val 3654"/>
            </a:avLst>
          </a:prstGeom>
          <a:solidFill>
            <a:srgbClr val="0B2742"/>
          </a:solidFill>
          <a:ln w="12700">
            <a:solidFill>
              <a:srgbClr val="0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9125640" y="211212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FUTURE IMPROVEMENTS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8"/>
          <p:cNvSpPr/>
          <p:nvPr/>
        </p:nvSpPr>
        <p:spPr>
          <a:xfrm>
            <a:off x="9125640" y="2477880"/>
            <a:ext cx="202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 practical roadmap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9"/>
          <p:cNvSpPr/>
          <p:nvPr/>
        </p:nvSpPr>
        <p:spPr>
          <a:xfrm>
            <a:off x="9144000" y="304488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0"/>
          <p:cNvSpPr/>
          <p:nvPr/>
        </p:nvSpPr>
        <p:spPr>
          <a:xfrm>
            <a:off x="9335880" y="29808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Online payments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1"/>
          <p:cNvSpPr/>
          <p:nvPr/>
        </p:nvSpPr>
        <p:spPr>
          <a:xfrm>
            <a:off x="9144000" y="337428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2"/>
          <p:cNvSpPr/>
          <p:nvPr/>
        </p:nvSpPr>
        <p:spPr>
          <a:xfrm>
            <a:off x="9335880" y="33102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Calendar sync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3"/>
          <p:cNvSpPr/>
          <p:nvPr/>
        </p:nvSpPr>
        <p:spPr>
          <a:xfrm>
            <a:off x="9144000" y="370332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4"/>
          <p:cNvSpPr/>
          <p:nvPr/>
        </p:nvSpPr>
        <p:spPr>
          <a:xfrm>
            <a:off x="9335880" y="363924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Maps &amp; location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5"/>
          <p:cNvSpPr/>
          <p:nvPr/>
        </p:nvSpPr>
        <p:spPr>
          <a:xfrm>
            <a:off x="9144000" y="403236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6"/>
          <p:cNvSpPr/>
          <p:nvPr/>
        </p:nvSpPr>
        <p:spPr>
          <a:xfrm>
            <a:off x="9335880" y="396864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Automated reminders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7"/>
          <p:cNvSpPr/>
          <p:nvPr/>
        </p:nvSpPr>
        <p:spPr>
          <a:xfrm>
            <a:off x="9144000" y="436176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8"/>
          <p:cNvSpPr/>
          <p:nvPr/>
        </p:nvSpPr>
        <p:spPr>
          <a:xfrm>
            <a:off x="9335880" y="429768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Multi-language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9"/>
          <p:cNvSpPr/>
          <p:nvPr/>
        </p:nvSpPr>
        <p:spPr>
          <a:xfrm>
            <a:off x="9144000" y="469080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0"/>
          <p:cNvSpPr/>
          <p:nvPr/>
        </p:nvSpPr>
        <p:spPr>
          <a:xfrm>
            <a:off x="9335880" y="462672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Advanced analytics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1"/>
          <p:cNvSpPr/>
          <p:nvPr/>
        </p:nvSpPr>
        <p:spPr>
          <a:xfrm>
            <a:off x="9144000" y="502020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2"/>
          <p:cNvSpPr/>
          <p:nvPr/>
        </p:nvSpPr>
        <p:spPr>
          <a:xfrm>
            <a:off x="9335880" y="495612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Mobile application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3"/>
          <p:cNvSpPr/>
          <p:nvPr/>
        </p:nvSpPr>
        <p:spPr>
          <a:xfrm>
            <a:off x="9144000" y="5349240"/>
            <a:ext cx="91080" cy="91080"/>
          </a:xfrm>
          <a:prstGeom prst="ellipse">
            <a:avLst/>
          </a:prstGeom>
          <a:solidFill>
            <a:srgbClr val="D4A84F"/>
          </a:solidFill>
          <a:ln w="12700">
            <a:solidFill>
              <a:srgbClr val="D4A8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4"/>
          <p:cNvSpPr/>
          <p:nvPr/>
        </p:nvSpPr>
        <p:spPr>
          <a:xfrm>
            <a:off x="9335880" y="528516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Verified reviews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5"/>
          <p:cNvSpPr/>
          <p:nvPr/>
        </p:nvSpPr>
        <p:spPr>
          <a:xfrm>
            <a:off x="58536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VALUE CREATED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6"/>
          <p:cNvSpPr/>
          <p:nvPr/>
        </p:nvSpPr>
        <p:spPr>
          <a:xfrm>
            <a:off x="585360" y="5166360"/>
            <a:ext cx="78087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2742"/>
                </a:solidFill>
                <a:effectLst/>
                <a:uFillTx/>
                <a:latin typeface="Aptos"/>
                <a:ea typeface="Aptos"/>
              </a:rPr>
              <a:t>Less friction.  Better visibility.  More organized venue operations.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7"/>
          <p:cNvSpPr/>
          <p:nvPr/>
        </p:nvSpPr>
        <p:spPr>
          <a:xfrm>
            <a:off x="567000" y="654696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6788A"/>
                </a:solidFill>
                <a:effectLst/>
                <a:uFillTx/>
                <a:latin typeface="Aptos"/>
                <a:ea typeface="Aptos"/>
              </a:rPr>
              <a:t>HALLMATE  ·  SMART VENUE BOOKING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8"/>
          <p:cNvSpPr/>
          <p:nvPr/>
        </p:nvSpPr>
        <p:spPr>
          <a:xfrm>
            <a:off x="11109960" y="6501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239">
              <a:alpha val="28000"/>
            </a:srgbClr>
          </a:solidFill>
          <a:ln w="12700">
            <a:solidFill>
              <a:srgbClr val="0B223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"/>
          <p:cNvSpPr/>
          <p:nvPr/>
        </p:nvSpPr>
        <p:spPr>
          <a:xfrm>
            <a:off x="0" y="0"/>
            <a:ext cx="9586452" cy="685764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"/>
          <p:cNvSpPr/>
          <p:nvPr/>
        </p:nvSpPr>
        <p:spPr>
          <a:xfrm>
            <a:off x="621720" y="47556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621720" y="4755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1134000" y="46620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Hall</a:t>
            </a:r>
            <a:r>
              <a:rPr lang="en-US" sz="2000" b="1" u="none" strike="noStrike">
                <a:solidFill>
                  <a:srgbClr val="C6922E"/>
                </a:solidFill>
                <a:effectLst/>
                <a:uFillTx/>
                <a:latin typeface="Aptos"/>
                <a:ea typeface="Aptos"/>
              </a:rPr>
              <a:t>Mate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1134000" y="70416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u="none" strike="noStrike" spc="139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SMART VENUE BOOKING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640080" y="1371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81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READY FOR THE DEMO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621720" y="1883520"/>
            <a:ext cx="56689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Thank You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640080" y="2788920"/>
            <a:ext cx="4891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spc="119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HALLMATE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9"/>
          <p:cNvSpPr/>
          <p:nvPr/>
        </p:nvSpPr>
        <p:spPr>
          <a:xfrm>
            <a:off x="640080" y="3246120"/>
            <a:ext cx="4891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Smart Venue Booking System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640080" y="379476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Discover.  Check.  Book.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1"/>
          <p:cNvSpPr/>
          <p:nvPr/>
        </p:nvSpPr>
        <p:spPr>
          <a:xfrm>
            <a:off x="621720" y="4836120"/>
            <a:ext cx="5348880" cy="849960"/>
          </a:xfrm>
          <a:prstGeom prst="roundRect">
            <a:avLst>
              <a:gd name="adj" fmla="val 10753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2"/>
          <p:cNvSpPr/>
          <p:nvPr/>
        </p:nvSpPr>
        <p:spPr>
          <a:xfrm>
            <a:off x="896040" y="4884420"/>
            <a:ext cx="4818600" cy="75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TEAM BUG SLAYERS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dirty="0">
                <a:solidFill>
                  <a:srgbClr val="FFFFFF"/>
                </a:solidFill>
                <a:latin typeface="Aptos"/>
                <a:ea typeface="Aptos"/>
              </a:rPr>
              <a:t>KITSW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  |    NN HACKATHON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11100960" y="63277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4A84F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702</Words>
  <Application>Microsoft Office PowerPoint</Application>
  <PresentationFormat>Widescreen</PresentationFormat>
  <Paragraphs>270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HallMate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Umaimah Afzal</cp:lastModifiedBy>
  <cp:revision>2</cp:revision>
  <dcterms:modified xsi:type="dcterms:W3CDTF">2026-09-18T05:20:36Z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2026-09-17T16:22:40Z</dcterms:created>
  <dc:creator>HallMate Team</dc:creator>
  <dc:description/>
  <dc:language>en-US</dc:language>
  <cp:lastModifiedBy>HallMate Team</cp:lastModifiedBy>
  <dcterms:modified xsi:type="dcterms:W3CDTF">2026-09-17T16:22:40Z</dcterms:modified>
  <cp:revision>1</cp:revision>
  <dc:subject>College Hackathon Product Presentation</dc:subject>
  <dc:title>HallMate — Smart Venue Booking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